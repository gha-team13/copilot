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B054D7-06A0-4A24-83D8-85736626BE31}">
  <a:tblStyle styleId="{78B054D7-06A0-4A24-83D8-85736626BE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29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30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2034629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B8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TD Bank Strategy | Biz Jam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406104"/>
            <a:ext cx="1120140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Premium Migration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 Personalized Loyalty Engine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93754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Closing the Loyalty Value Gap through Human-Centric AI and Real-Time Engagement.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623345"/>
            <a:ext cx="10668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TEAM: HUMAN &amp; SIMPLE | Kevin Hau, Ning Zhao, Hai Nguyen, Linda Savoia, Bhoomi Patel, Anthony D'Costa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0" y="1685925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23241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Sarah is an everyday TD customer striving to earn meaningful rewards on daily purchases.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0" y="1685925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57225" y="3124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124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Challenge: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Points accumulate too slowly to feel relevant.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7225" y="3924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39243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Friction: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Traditional redemption lacks immediate, visible value at checkout.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7225" y="47244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7244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Sentiment: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"I shop daily, but my loyalty rewards feel months away."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Meet Sarah: The Face of the Gap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76462"/>
            <a:ext cx="336545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176462"/>
            <a:ext cx="336545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176462"/>
            <a:ext cx="3365599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143000" y="3119437"/>
            <a:ext cx="2733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Delayed Value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43000" y="3538537"/>
            <a:ext cx="2603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Customers wait months to feel rewarded, losing momentum and engagement early in the cycle.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794200" y="3119437"/>
            <a:ext cx="2733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Complex UX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794200" y="3538537"/>
            <a:ext cx="2603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Redemption lacks immediate, visible value at the Point of Purchase (POP) or checkout counter.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45400" y="3119437"/>
            <a:ext cx="273377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Skewed Rewards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45400" y="3538537"/>
            <a:ext cx="26035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Value is heavily skewed toward premium holders, leaving the base segment largely inactivated.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258603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94200" y="25860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The Loyalty Value Gap Challenge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71600"/>
            <a:ext cx="106680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447675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Strategic Insight: Scale drivers ($28.7B) and growth engines (80% YoY) provide a massive pipeline for premium migration.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Current Performance Snapshot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5524500" y="2833687"/>
            <a:ext cx="1143000" cy="57150"/>
          </a:xfrm>
          <a:prstGeom prst="rect">
            <a:avLst/>
          </a:prstGeom>
          <a:solidFill>
            <a:srgbClr val="54B8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495300" y="3176587"/>
            <a:ext cx="11201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The Core Strategy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62000" y="40052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Shifting behavior from "Redemption-Only" to high-value "Spend + Redeem" cycles.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2405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762000" y="2566987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C1C1C"/>
                </a:solidFill>
                <a:latin typeface="Inter"/>
                <a:ea typeface="Inter"/>
                <a:cs typeface="Inter"/>
                <a:sym typeface="Inter"/>
              </a:rPr>
              <a:t>Targeted Acceleration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62000" y="27860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We will migrate the </a:t>
            </a:r>
            <a:r>
              <a:rPr b="1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top 10% of high-potential Cash Back users</a:t>
            </a: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into Infinite tiers.</a:t>
            </a:r>
            <a:endParaRPr/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2405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657225" y="35861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762000" y="35861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Realize 3x yield lift per active user.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57225" y="40338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62000" y="40338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Defend the $28.7B premium travel base.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57225" y="44815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44815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Convert Low-Rate growth into a premium card pipeline.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Tier Migration: Driving 3x Yield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762000" y="2690812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C1C1C"/>
                </a:solidFill>
                <a:latin typeface="Inter"/>
                <a:ea typeface="Inter"/>
                <a:cs typeface="Inter"/>
                <a:sym typeface="Inter"/>
              </a:rPr>
              <a:t>Humanizing the Technology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762000" y="2909887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Our personalized loyalty engine recognizes Sarah's purchase intent in milliseconds.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762000" y="3709987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"Aha" Moment: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Sarah swipes her card at Starbucks. Instantly, she gets a nudge: </a:t>
            </a:r>
            <a:r>
              <a:rPr b="0" i="1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"Use 500 TD points to cover this $5.00 purchase right now?"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62000" y="5119687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Simple. Immediate. Human.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762000" y="571500"/>
            <a:ext cx="480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Sarah's Real-Time Experience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28862"/>
            <a:ext cx="33654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28862"/>
            <a:ext cx="33654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28862"/>
            <a:ext cx="3365599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1143000" y="3271837"/>
            <a:ext cx="2733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Personalized Nudges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1143000" y="3690937"/>
            <a:ext cx="2603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Data-driven prompts to reactivate dormant accounts and increase monthly frequency.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794200" y="3271837"/>
            <a:ext cx="2733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Spend-Linked Rewards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794200" y="3690937"/>
            <a:ext cx="2603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Gamifying statements to unlock multipliers (e.g., hitting $1,500 spend unlocks 48hr boost).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8445400" y="3271837"/>
            <a:ext cx="273377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Real-Time Redemption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445400" y="3690937"/>
            <a:ext cx="26035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Smart prompts at the Point of Purchase to drive point usage and perceived value.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273843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94200" y="273843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5400" y="2738437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The Four Pillars of Engagement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95500"/>
            <a:ext cx="33654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095500"/>
            <a:ext cx="33654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95500"/>
            <a:ext cx="3365599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762000" y="4953000"/>
            <a:ext cx="3365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Discover: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Browse merchant offers integrated within EasyWeb.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413200" y="4953000"/>
            <a:ext cx="3365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Activate: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Seamless integration with 30+ top retail brands.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064400" y="4953000"/>
            <a:ext cx="33655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Earn:</a:t>
            </a: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Instant cash back and visible value accumulation.</a:t>
            </a:r>
            <a:endParaRPr/>
          </a:p>
        </p:txBody>
      </p:sp>
      <p:pic>
        <p:nvPicPr>
          <p:cNvPr descr="image.png" id="193" name="Google Shape;19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095500"/>
            <a:ext cx="33654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3200" y="2095500"/>
            <a:ext cx="33654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4400" y="2095500"/>
            <a:ext cx="3365599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2026 Integrated Mobile Hub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2286000" y="461010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Driving 10% annual bonus points on birthdays and anniversaries creates a personal connection that discourages card churn and builds long-term advocacy.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1143000" y="2819400"/>
            <a:ext cx="25399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54B848"/>
                </a:solidFill>
                <a:latin typeface="Inter"/>
                <a:ea typeface="Inter"/>
                <a:cs typeface="Inter"/>
                <a:sym typeface="Inter"/>
              </a:rPr>
              <a:t>10%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1143000" y="3648075"/>
            <a:ext cx="2539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ANNIVERSARY BONUS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4825900" y="2819400"/>
            <a:ext cx="2540049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54B848"/>
                </a:solidFill>
                <a:latin typeface="Inter"/>
                <a:ea typeface="Inter"/>
                <a:cs typeface="Inter"/>
                <a:sym typeface="Inter"/>
              </a:rPr>
              <a:t>2.4x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4825900" y="3648075"/>
            <a:ext cx="25400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LOYALTY LONGEVITY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8508950" y="2819400"/>
            <a:ext cx="25399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54B848"/>
                </a:solidFill>
                <a:latin typeface="Inter"/>
                <a:ea typeface="Inter"/>
                <a:cs typeface="Inter"/>
                <a:sym typeface="Inter"/>
              </a:rPr>
              <a:t>30+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8508950" y="3648075"/>
            <a:ext cx="2539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MERCHANT BRANDS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Retention: High-Emotional Touchpoints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" name="Google Shape;215;p23"/>
          <p:cNvGraphicFramePr/>
          <p:nvPr/>
        </p:nvGraphicFramePr>
        <p:xfrm>
          <a:off x="762000" y="2457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{78B054D7-06A0-4A24-83D8-85736626BE31}</a:tableStyleId>
              </a:tblPr>
              <a:tblGrid>
                <a:gridCol w="1837575"/>
                <a:gridCol w="3292825"/>
                <a:gridCol w="5537600"/>
              </a:tblGrid>
              <a:tr h="58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 Target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Strategic Benefit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2D"/>
                    </a:solidFill>
                  </a:tcPr>
                </a:tc>
              </a:tr>
              <a:tr h="58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+20K - 25K Monthly Users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Tiered yield lift and higher customer CLV.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+$1.68B Incremental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Captured "Spend + Redeem" high-value cycle.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58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Engagement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+15.7M Annual Actions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Mobile app stickiness and brand reinforcement.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Portfolio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70% YoY Conversion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C1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Securing the pipeline from base to premium.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23"/>
          <p:cNvSpPr/>
          <p:nvPr/>
        </p:nvSpPr>
        <p:spPr>
          <a:xfrm>
            <a:off x="762000" y="3605212"/>
            <a:ext cx="1837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2599580" y="3605212"/>
            <a:ext cx="32928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5892403" y="3605212"/>
            <a:ext cx="5537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762000" y="4195762"/>
            <a:ext cx="1837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2599580" y="4195762"/>
            <a:ext cx="32928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892403" y="4195762"/>
            <a:ext cx="5537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762000" y="4786312"/>
            <a:ext cx="1837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2599580" y="4786312"/>
            <a:ext cx="32928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892403" y="4786312"/>
            <a:ext cx="5537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762000" y="5376862"/>
            <a:ext cx="1837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2599580" y="5376862"/>
            <a:ext cx="32928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892403" y="5376862"/>
            <a:ext cx="5537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Scale Drivers &amp; Projected Impact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762000" y="571500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B84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Human &amp; Simple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495300" y="942975"/>
            <a:ext cx="112014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762000" y="2057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Revolutionizing loyalty by putting Sarah at the center of every interaction.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762000" y="2933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C1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2026 Biz Jam | A TD INVENT Challenge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/>
          <p:nvPr/>
        </p:nvSpPr>
        <p:spPr>
          <a:xfrm>
            <a:off x="762000" y="137160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762000" y="2156370"/>
            <a:ext cx="10668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762000" y="3139231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762000" y="3924002"/>
            <a:ext cx="10668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762000" y="4906863"/>
            <a:ext cx="10668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762000" y="214684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762000" y="214684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762000" y="312970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762000" y="312970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762000" y="391447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762000" y="391447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762000" y="489733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762000" y="489733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762000" y="588019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762000" y="588019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210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857375" y="151447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https://dfjx2uxqg3cgi.cloudfront.net/img/photo/312381/312381_tt.jpg?20250621115012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1857375" y="176019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www.youworkforthem.com</a:t>
            </a:r>
            <a:endParaRPr/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4049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857375" y="2299245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https://png.pngtree.com/png-clipart/20250524/original/pngtree-elegant-golden-infinity-3d-design-on-black-background-for-conceptual-art-png-image_21069497.png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857375" y="274305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64" name="Google Shape;26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886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857375" y="3282106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https://7brewmenuhub.com/wp-content/uploads/2025/12/Prompt_modern_coffee_2k_202512272251-1024x572.webp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857375" y="352782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7brewmenuhub.com</a:t>
            </a:r>
            <a:endParaRPr/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1725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1857375" y="4066877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https://market-resized.envatousercontent.com/previews/files/654496869/inlinepreview.jpg?w=590&amp;h=300&amp;cf_fit=crop&amp;crop=top&amp;format=auto&amp;q=85&amp;s=5605b1a88e598f392bf982cf837cdc6ce3b628686d835365b0d577029cbbc87d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857375" y="4510682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codecanyon.net</a:t>
            </a:r>
            <a:endParaRPr/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1554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857375" y="5049738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https://www.lsretail.com/hs-fs/hubfs/Blog-Deliver-faster%2C-better-service-with-self-checkout-technology.jpg?width=826&amp;height=413&amp;name=Blog-Deliver-faster%2C-better-service-with-self-checkout-technology.jpg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857375" y="549354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www.lsretail.com</a:t>
            </a:r>
            <a:endParaRPr/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1382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1857375" y="6032599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https://www.sfcu.org/getContentAsset/334f9389-1dcc-42e4-8b06-39dd76cf5cdc/bd9e9f4d-9bd3-4fd9-b768-227495ff59c1/Cards-6-CashBack-Gift-Cards-Detail-Banner-445x624-v2.png?language=en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1857375" y="6476404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www.sfcu.org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F2D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