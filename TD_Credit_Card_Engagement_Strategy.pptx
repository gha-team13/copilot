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2026" y="4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7241"/>
            <a:ext cx="7772400" cy="1470025"/>
          </a:xfrm>
        </p:spPr>
        <p:txBody>
          <a:bodyPr/>
          <a:lstStyle/>
          <a:p>
            <a:pPr>
              <a:defRPr>
                <a:solidFill>
                  <a:srgbClr val="005500"/>
                </a:solidFill>
              </a:defRPr>
            </a:pPr>
            <a:r>
              <a:rPr dirty="0"/>
              <a:t>Driving Sustained Loyalty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0096" y="2033016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Strategic framework for building long-term engagement through TD Rewards &amp; personalized customer benefits.</a:t>
            </a:r>
          </a:p>
          <a:p>
            <a:endParaRPr dirty="0"/>
          </a:p>
          <a:p>
            <a:r>
              <a:rPr dirty="0"/>
              <a:t>Executive Strategy Review | Q1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79710-FF6D-3014-1D7A-711DEC7671B4}"/>
              </a:ext>
            </a:extLst>
          </p:cNvPr>
          <p:cNvSpPr txBox="1"/>
          <p:nvPr/>
        </p:nvSpPr>
        <p:spPr>
          <a:xfrm>
            <a:off x="847344" y="4609388"/>
            <a:ext cx="457200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CA" b="1" i="0" cap="all" dirty="0">
                <a:solidFill>
                  <a:srgbClr val="54B848"/>
                </a:solidFill>
                <a:effectLst/>
                <a:latin typeface="Poppins" panose="00000500000000000000" pitchFamily="2" charset="0"/>
              </a:rPr>
              <a:t>Financial ROI</a:t>
            </a:r>
          </a:p>
          <a:p>
            <a:pPr algn="l">
              <a:buNone/>
            </a:pPr>
            <a:r>
              <a:rPr lang="en-CA" b="0" i="0" dirty="0">
                <a:solidFill>
                  <a:srgbClr val="414042"/>
                </a:solidFill>
                <a:effectLst/>
                <a:latin typeface="Lato" panose="020F0502020204030203" pitchFamily="34" charset="0"/>
              </a:rPr>
              <a:t>Realize </a:t>
            </a:r>
            <a:r>
              <a:rPr lang="en-CA" b="1" i="0" dirty="0">
                <a:solidFill>
                  <a:srgbClr val="003F2D"/>
                </a:solidFill>
                <a:effectLst/>
                <a:latin typeface="Lato" panose="020F0502020204030203" pitchFamily="34" charset="0"/>
              </a:rPr>
              <a:t>3x yield lift</a:t>
            </a:r>
            <a:r>
              <a:rPr lang="en-CA" b="0" i="0" dirty="0">
                <a:solidFill>
                  <a:srgbClr val="414042"/>
                </a:solidFill>
                <a:effectLst/>
                <a:latin typeface="Lato" panose="020F0502020204030203" pitchFamily="34" charset="0"/>
              </a:rPr>
              <a:t> per active user via tier migration and defend the $28.7B First Class Travel 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8A00"/>
                </a:solidFill>
              </a:defRPr>
            </a:pPr>
            <a:r>
              <a:t>Executive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Top Performance Snapshot</a:t>
            </a:r>
          </a:p>
          <a:p>
            <a:pPr lvl="1"/>
            <a:r>
              <a:rPr dirty="0"/>
              <a:t>• Scale Drivers: First Class Travel ($28.7B) and Cash Back ($18.7B) drive &gt;55% of volume.</a:t>
            </a:r>
          </a:p>
          <a:p>
            <a:pPr lvl="1"/>
            <a:r>
              <a:rPr dirty="0"/>
              <a:t>• Growth Engine: TD Low Rate achieved ~80% YoY spend expansion as a lead acquisition tool.</a:t>
            </a:r>
          </a:p>
          <a:p>
            <a:pPr>
              <a:spcBef>
                <a:spcPts val="2000"/>
              </a:spcBef>
              <a:defRPr sz="2000" b="1"/>
            </a:pPr>
            <a:r>
              <a:rPr dirty="0"/>
              <a:t>Long-Term Strategy</a:t>
            </a:r>
          </a:p>
          <a:p>
            <a:pPr lvl="1"/>
            <a:r>
              <a:rPr dirty="0"/>
              <a:t>• Engagement Loop: High-yield cards (Business Travel at $6k/active) prioritize retention via concierge perks.</a:t>
            </a:r>
          </a:p>
          <a:p>
            <a:pPr lvl="1"/>
            <a:r>
              <a:rPr dirty="0"/>
              <a:t>• Portfolio Migration: Strategy shift toward up-tiering Cash Back users into Infinite tiers for 3x yield lift.</a:t>
            </a:r>
          </a:p>
        </p:txBody>
      </p:sp>
      <p:pic>
        <p:nvPicPr>
          <p:cNvPr id="4" name="Picture 3" descr="dashboard_mini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41544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8A00"/>
                </a:solidFill>
              </a:defRPr>
            </a:pPr>
            <a:r>
              <a:t>Three Pillars for Long-Term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In-App Discounts</a:t>
            </a:r>
          </a:p>
          <a:p>
            <a:pPr lvl="1"/>
            <a:r>
              <a:rPr dirty="0"/>
              <a:t>New 2026 TD Rewards Experience integrates 30+ top brands (Gap, PetSmart) for instant merchant cashback within </a:t>
            </a:r>
            <a:r>
              <a:rPr dirty="0" err="1"/>
              <a:t>EasyWeb</a:t>
            </a:r>
            <a:r>
              <a:rPr dirty="0"/>
              <a:t>.</a:t>
            </a:r>
          </a:p>
          <a:p>
            <a:r>
              <a:rPr dirty="0"/>
              <a:t>2. Birthday Retention</a:t>
            </a:r>
          </a:p>
          <a:p>
            <a:pPr lvl="1"/>
            <a:r>
              <a:rPr dirty="0"/>
              <a:t>Driving 10% annual bonus points on birthdays creates a high-emotional-value touchpoint that discourages card churn.</a:t>
            </a:r>
          </a:p>
          <a:p>
            <a:r>
              <a:rPr dirty="0"/>
              <a:t>3. Personalized Value</a:t>
            </a:r>
          </a:p>
          <a:p>
            <a:pPr lvl="1"/>
            <a:r>
              <a:rPr lang="en-CA" dirty="0"/>
              <a:t>Moving from one-time perks to year-round relevant rewards, such as EV charging bonuses and intentional spending insights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A"/>
              <a:t>Yield Maximization: Premium Tier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Loyalty ROI is concentrated in premium travel segments:</a:t>
            </a:r>
          </a:p>
          <a:p>
            <a:pPr lvl="1"/>
            <a:r>
              <a:rPr lang="en-CA" dirty="0"/>
              <a:t>Business Travel: $6,122 Sales Per Active (The Yield Leader)</a:t>
            </a:r>
          </a:p>
          <a:p>
            <a:pPr lvl="1"/>
            <a:r>
              <a:rPr lang="en-CA" dirty="0"/>
              <a:t>First Class Travel: $2,847 Sales Per Active</a:t>
            </a:r>
          </a:p>
          <a:p>
            <a:pPr lvl="1"/>
            <a:r>
              <a:rPr lang="en-CA" dirty="0"/>
              <a:t>Cash Back (Base): ~$864 Sales Per Active</a:t>
            </a:r>
          </a:p>
          <a:p>
            <a:r>
              <a:rPr lang="en-CA" dirty="0"/>
              <a:t>Strategic Pivot</a:t>
            </a:r>
          </a:p>
          <a:p>
            <a:pPr lvl="1"/>
            <a:r>
              <a:rPr lang="en-CA" dirty="0"/>
              <a:t>Incentivize top 10% of Cash Back users with 'Tier Migration' bonuses to move them into First Class Travel. Premium users stay 2.4x longer than entry-level cardholders.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8A00"/>
                </a:solidFill>
              </a:defRPr>
            </a:pPr>
            <a:r>
              <a:t>Seamless Digital Benefits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EasyWeb Integration</a:t>
            </a:r>
          </a:p>
          <a:p>
            <a:pPr lvl="1"/>
            <a:r>
              <a:t>Real-time activation of merchant offers directly from the mobile app dashboard.</a:t>
            </a:r>
          </a:p>
          <a:p>
            <a:r>
              <a:t>Expedia for TD &amp; Aeroplan Synergy</a:t>
            </a:r>
          </a:p>
          <a:p>
            <a:pPr lvl="1"/>
            <a:r>
              <a:t>Enhancing earn rates to 8x points per $1 spent on travel bookings and leveraging Air Canada partnerships.</a:t>
            </a:r>
          </a:p>
          <a:p>
            <a:r>
              <a:t>Automated Redemption</a:t>
            </a:r>
          </a:p>
          <a:p>
            <a:pPr lvl="1"/>
            <a:r>
              <a:t>Simplifying point-to-statement conversions to increase perceived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8A00"/>
                </a:solidFill>
              </a:defRPr>
            </a:pPr>
            <a:r>
              <a:t>Executive Strategy: Portfolio Rebalancing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Sustained engagement requires shifting focus from pure acquisition to active portfolio management:</a:t>
            </a:r>
          </a:p>
          <a:p>
            <a:pPr lvl="1">
              <a:defRPr b="1"/>
            </a:pPr>
            <a:r>
              <a:t>1. Premium Defense</a:t>
            </a:r>
          </a:p>
          <a:p>
            <a:pPr lvl="2"/>
            <a:r>
              <a:t>Protect the high-yield travel base via NEXUS credits and lounge access enhancements.</a:t>
            </a:r>
          </a:p>
          <a:p>
            <a:pPr lvl="1">
              <a:defRPr b="1"/>
            </a:pPr>
            <a:r>
              <a:t>2. Low-Rate Conversion</a:t>
            </a:r>
          </a:p>
          <a:p>
            <a:pPr lvl="2"/>
            <a:r>
              <a:t>Utilize the 70%+ growth in Low Rate accounts to build a pipeline for credit-building to premium migration.</a:t>
            </a:r>
          </a:p>
          <a:p>
            <a:pPr lvl="1">
              <a:defRPr b="1"/>
            </a:pPr>
            <a:r>
              <a:t>3. ROI Optimization</a:t>
            </a:r>
          </a:p>
          <a:p>
            <a:pPr lvl="2"/>
            <a:r>
              <a:t>Prioritize 'Personalized Merchant Offers' for high-churn risk segments to secure long-term loyalty.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8A00"/>
                </a:solidFill>
              </a:defRPr>
            </a:pPr>
            <a:r>
              <a:rPr sz="2400"/>
              <a:t>Implementation Roadmap: 2026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Q1: Launch</a:t>
            </a:r>
          </a:p>
          <a:p>
            <a:pPr lvl="1"/>
            <a:r>
              <a:rPr sz="2400" dirty="0"/>
              <a:t>Rollout of the new merchant reward experience in-app across Canada.</a:t>
            </a:r>
          </a:p>
          <a:p>
            <a:r>
              <a:rPr sz="2400" dirty="0"/>
              <a:t>Q2: Optimize</a:t>
            </a:r>
          </a:p>
          <a:p>
            <a:pPr lvl="1"/>
            <a:r>
              <a:rPr sz="2400" dirty="0"/>
              <a:t>Data-driven personalization of offers based on spending habits.</a:t>
            </a:r>
          </a:p>
          <a:p>
            <a:r>
              <a:rPr sz="2400" dirty="0"/>
              <a:t>Q3: Up-Tier</a:t>
            </a:r>
          </a:p>
          <a:p>
            <a:pPr lvl="1"/>
            <a:r>
              <a:rPr sz="2400" dirty="0"/>
              <a:t>Initiate migration campaign for high-potential Cash Back users.</a:t>
            </a:r>
          </a:p>
          <a:p>
            <a:r>
              <a:rPr sz="2400" dirty="0"/>
              <a:t>Q4: Scale</a:t>
            </a:r>
          </a:p>
          <a:p>
            <a:pPr lvl="1"/>
            <a:r>
              <a:rPr sz="2400" dirty="0"/>
              <a:t>Expand merchant network to 100+ brands and double earn rates on transit.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1190"/>
            <a:ext cx="7772400" cy="1470025"/>
          </a:xfrm>
        </p:spPr>
        <p:txBody>
          <a:bodyPr/>
          <a:lstStyle/>
          <a:p>
            <a:pPr>
              <a:defRPr>
                <a:solidFill>
                  <a:srgbClr val="008A00"/>
                </a:solidFill>
              </a:defRPr>
            </a:pPr>
            <a:r>
              <a:t>Key Takeaways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66965"/>
            <a:ext cx="6400800" cy="17526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dirty="0"/>
              <a:t>1. Sustainable Scale: Defend the First Class Travel volume base.</a:t>
            </a:r>
          </a:p>
          <a:p>
            <a:endParaRPr dirty="0"/>
          </a:p>
          <a:p>
            <a:r>
              <a:rPr dirty="0"/>
              <a:t>2. Intentional Loyalty: Focus on personalized merchant rewards.</a:t>
            </a:r>
          </a:p>
          <a:p>
            <a:endParaRPr dirty="0"/>
          </a:p>
          <a:p>
            <a:r>
              <a:rPr dirty="0"/>
              <a:t>3. Digital First: Seamless </a:t>
            </a:r>
            <a:r>
              <a:rPr dirty="0" err="1"/>
              <a:t>EasyWeb</a:t>
            </a:r>
            <a:r>
              <a:rPr dirty="0"/>
              <a:t>/App experience is key to repeat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522</Words>
  <Application>Microsoft Office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Lato</vt:lpstr>
      <vt:lpstr>Poppins</vt:lpstr>
      <vt:lpstr>Office Theme</vt:lpstr>
      <vt:lpstr>Driving Sustained Loyalty</vt:lpstr>
      <vt:lpstr>PowerPoint Presentation</vt:lpstr>
      <vt:lpstr>Three Pillars for Long-Term Loyalty</vt:lpstr>
      <vt:lpstr>Yield Maximization: Premium Tier Value</vt:lpstr>
      <vt:lpstr>Seamless Digital Benefits &amp; Ecosystem</vt:lpstr>
      <vt:lpstr>Executive Strategy: Portfolio Rebalancing</vt:lpstr>
      <vt:lpstr>Implementation Roadmap: 2026 Strategy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Larissa</dc:creator>
  <cp:keywords/>
  <dc:description>generated using python-pptx</dc:description>
  <cp:lastModifiedBy>Ryan D'costa (510007086)</cp:lastModifiedBy>
  <cp:revision>4</cp:revision>
  <dcterms:created xsi:type="dcterms:W3CDTF">2013-01-27T09:14:16Z</dcterms:created>
  <dcterms:modified xsi:type="dcterms:W3CDTF">2026-05-19T10:55:24Z</dcterms:modified>
  <cp:category/>
</cp:coreProperties>
</file>