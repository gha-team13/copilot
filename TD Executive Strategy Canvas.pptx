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embeddedFontLst>
    <p:embeddedFont>
      <p:font typeface="Lato" panose="020F0502020204030203" pitchFamily="34" charset="0"/>
      <p:regular r:id="rId5"/>
      <p:bold r:id="rId6"/>
      <p:italic r:id="rId7"/>
      <p:boldItalic r:id="rId8"/>
    </p:embeddedFont>
    <p:embeddedFont>
      <p:font typeface="Poppins" panose="00000500000000000000" pitchFamily="2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theme" Target="theme/theme1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10750" y="4476750"/>
            <a:ext cx="285750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09600"/>
            <a:ext cx="1762125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1800225"/>
            <a:ext cx="1762125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5086350"/>
            <a:ext cx="1762125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0" y="1657350"/>
            <a:ext cx="3048000" cy="26574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381000" y="0"/>
            <a:ext cx="23145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Strategic Yield Innovators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8324850" y="23812"/>
            <a:ext cx="34861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Jordan Smith • Alex Chen • Sarah Miller • David Park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2247900" y="195262"/>
            <a:ext cx="9941242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003F2D"/>
                </a:solidFill>
                <a:latin typeface="Poppins"/>
                <a:ea typeface="Poppins"/>
                <a:cs typeface="Poppins"/>
                <a:sym typeface="Poppins"/>
              </a:rPr>
              <a:t>TD Premium Migration &amp; Personalized Loyalty Engine</a:t>
            </a:r>
            <a:endParaRPr/>
          </a:p>
        </p:txBody>
      </p:sp>
      <p:pic>
        <p:nvPicPr>
          <p:cNvPr id="92" name="Google Shape;92;p1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705850" y="1695450"/>
            <a:ext cx="2971800" cy="25812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2343150" y="4991100"/>
            <a:ext cx="298037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54B848"/>
                </a:solidFill>
                <a:latin typeface="Poppins"/>
                <a:ea typeface="Poppins"/>
                <a:cs typeface="Poppins"/>
                <a:sym typeface="Poppins"/>
              </a:rPr>
              <a:t>FINANCIAL ROI</a:t>
            </a:r>
            <a:endParaRPr/>
          </a:p>
        </p:txBody>
      </p:sp>
      <p:sp>
        <p:nvSpPr>
          <p:cNvPr id="94" name="Google Shape;94;p13"/>
          <p:cNvSpPr/>
          <p:nvPr/>
        </p:nvSpPr>
        <p:spPr>
          <a:xfrm>
            <a:off x="2343150" y="5276850"/>
            <a:ext cx="2838450" cy="19050"/>
          </a:xfrm>
          <a:prstGeom prst="rect">
            <a:avLst/>
          </a:prstGeom>
          <a:solidFill>
            <a:srgbClr val="F1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2343150" y="5391150"/>
            <a:ext cx="2838450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14042"/>
                </a:solidFill>
                <a:latin typeface="Lato"/>
                <a:ea typeface="Lato"/>
                <a:cs typeface="Lato"/>
                <a:sym typeface="Lato"/>
              </a:rPr>
              <a:t>Realize </a:t>
            </a:r>
            <a:r>
              <a:rPr lang="en-US" sz="1200" b="1" i="0" u="none" strike="noStrike" cap="none">
                <a:solidFill>
                  <a:srgbClr val="003F2D"/>
                </a:solidFill>
                <a:latin typeface="Lato"/>
                <a:ea typeface="Lato"/>
                <a:cs typeface="Lato"/>
                <a:sym typeface="Lato"/>
              </a:rPr>
              <a:t>3x yield lift</a:t>
            </a:r>
            <a:r>
              <a:rPr lang="en-US" sz="1200" b="0" i="0" u="none" strike="noStrike" cap="none">
                <a:solidFill>
                  <a:srgbClr val="414042"/>
                </a:solidFill>
                <a:latin typeface="Lato"/>
                <a:ea typeface="Lato"/>
                <a:cs typeface="Lato"/>
                <a:sym typeface="Lato"/>
              </a:rPr>
              <a:t> per active user via tier migration and defend the $28.7B First Class Travel base.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5562600" y="4991100"/>
            <a:ext cx="298037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54B848"/>
                </a:solidFill>
                <a:latin typeface="Poppins"/>
                <a:ea typeface="Poppins"/>
                <a:cs typeface="Poppins"/>
                <a:sym typeface="Poppins"/>
              </a:rPr>
              <a:t>LOYALTY &amp; RETENTION</a:t>
            </a:r>
            <a:endParaRPr/>
          </a:p>
        </p:txBody>
      </p:sp>
      <p:sp>
        <p:nvSpPr>
          <p:cNvPr id="97" name="Google Shape;97;p13"/>
          <p:cNvSpPr/>
          <p:nvPr/>
        </p:nvSpPr>
        <p:spPr>
          <a:xfrm>
            <a:off x="5562600" y="5276850"/>
            <a:ext cx="2838450" cy="19050"/>
          </a:xfrm>
          <a:prstGeom prst="rect">
            <a:avLst/>
          </a:prstGeom>
          <a:solidFill>
            <a:srgbClr val="F1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5562600" y="5391150"/>
            <a:ext cx="2838450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14042"/>
                </a:solidFill>
                <a:latin typeface="Lato"/>
                <a:ea typeface="Lato"/>
                <a:cs typeface="Lato"/>
                <a:sym typeface="Lato"/>
              </a:rPr>
              <a:t>Birthday retention bonuses and NEXUS credits decrease churn risk for high-value premium travel segments.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8782050" y="4991100"/>
            <a:ext cx="298037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54B848"/>
                </a:solidFill>
                <a:latin typeface="Poppins"/>
                <a:ea typeface="Poppins"/>
                <a:cs typeface="Poppins"/>
                <a:sym typeface="Poppins"/>
              </a:rPr>
              <a:t>PORTFOLIO SCALE</a:t>
            </a:r>
            <a:endParaRPr/>
          </a:p>
        </p:txBody>
      </p:sp>
      <p:sp>
        <p:nvSpPr>
          <p:cNvPr id="100" name="Google Shape;100;p13"/>
          <p:cNvSpPr/>
          <p:nvPr/>
        </p:nvSpPr>
        <p:spPr>
          <a:xfrm>
            <a:off x="8782050" y="5276850"/>
            <a:ext cx="2838450" cy="19050"/>
          </a:xfrm>
          <a:prstGeom prst="rect">
            <a:avLst/>
          </a:prstGeom>
          <a:solidFill>
            <a:srgbClr val="F1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8782050" y="5391150"/>
            <a:ext cx="2838450" cy="639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14042"/>
                </a:solidFill>
                <a:latin typeface="Lato"/>
                <a:ea typeface="Lato"/>
                <a:cs typeface="Lato"/>
                <a:sym typeface="Lato"/>
              </a:rPr>
              <a:t>Converts the </a:t>
            </a:r>
            <a:r>
              <a:rPr lang="en-US" sz="1200" b="1" i="0" u="none" strike="noStrike" cap="none">
                <a:solidFill>
                  <a:srgbClr val="003F2D"/>
                </a:solidFill>
                <a:latin typeface="Lato"/>
                <a:ea typeface="Lato"/>
                <a:cs typeface="Lato"/>
                <a:sym typeface="Lato"/>
              </a:rPr>
              <a:t>70% YoY growth</a:t>
            </a:r>
            <a:r>
              <a:rPr lang="en-US" sz="1200" b="0" i="0" u="none" strike="noStrike" cap="none">
                <a:solidFill>
                  <a:srgbClr val="414042"/>
                </a:solidFill>
                <a:latin typeface="Lato"/>
                <a:ea typeface="Lato"/>
                <a:cs typeface="Lato"/>
                <a:sym typeface="Lato"/>
              </a:rPr>
              <a:t> in Low Rate accounts into a qualified pipeline for premium card adoption.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2486025" y="1752600"/>
            <a:ext cx="5800725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14042"/>
                </a:solidFill>
                <a:latin typeface="Lato"/>
                <a:ea typeface="Lato"/>
                <a:cs typeface="Lato"/>
                <a:sym typeface="Lato"/>
              </a:rPr>
              <a:t>Strategic Insight:</a:t>
            </a:r>
            <a:r>
              <a:rPr lang="en-US" sz="1350" b="0" i="0" u="none" strike="noStrike" cap="none">
                <a:solidFill>
                  <a:srgbClr val="414042"/>
                </a:solidFill>
                <a:latin typeface="Lato"/>
                <a:ea typeface="Lato"/>
                <a:cs typeface="Lato"/>
                <a:sym typeface="Lato"/>
              </a:rPr>
              <a:t> Premium card users stay 2.4x longer and drive significant volume ($28.7B base).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2486025" y="2346721"/>
            <a:ext cx="5800725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14042"/>
                </a:solidFill>
                <a:latin typeface="Lato"/>
                <a:ea typeface="Lato"/>
                <a:cs typeface="Lato"/>
                <a:sym typeface="Lato"/>
              </a:rPr>
              <a:t>The Core Strategy:</a:t>
            </a:r>
            <a:r>
              <a:rPr lang="en-US" sz="1350" b="0" i="0" u="none" strike="noStrike" cap="none">
                <a:solidFill>
                  <a:srgbClr val="414042"/>
                </a:solidFill>
                <a:latin typeface="Lato"/>
                <a:ea typeface="Lato"/>
                <a:cs typeface="Lato"/>
                <a:sym typeface="Lato"/>
              </a:rPr>
              <a:t> Migrate the top 10% of high-potential Cash Back users into Infinite tiers for a 3x yield lift.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2486025" y="2940843"/>
            <a:ext cx="5800725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14042"/>
                </a:solidFill>
                <a:latin typeface="Lato"/>
                <a:ea typeface="Lato"/>
                <a:cs typeface="Lato"/>
                <a:sym typeface="Lato"/>
              </a:rPr>
              <a:t>Engagement Ecosystem:</a:t>
            </a:r>
            <a:r>
              <a:rPr lang="en-US" sz="1350" b="0" i="0" u="none" strike="noStrike" cap="none">
                <a:solidFill>
                  <a:srgbClr val="414042"/>
                </a:solidFill>
                <a:latin typeface="Lato"/>
                <a:ea typeface="Lato"/>
                <a:cs typeface="Lato"/>
                <a:sym typeface="Lato"/>
              </a:rPr>
              <a:t> Integrated TD Rewards Experience in EasyWeb featuring 30+ top merchant brands.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2486025" y="3534965"/>
            <a:ext cx="5800725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414042"/>
                </a:solidFill>
                <a:latin typeface="Lato"/>
                <a:ea typeface="Lato"/>
                <a:cs typeface="Lato"/>
                <a:sym typeface="Lato"/>
              </a:rPr>
              <a:t>Retention Mechanics:</a:t>
            </a:r>
            <a:r>
              <a:rPr lang="en-US" sz="1350" b="0" i="0" u="none" strike="noStrike" cap="none">
                <a:solidFill>
                  <a:srgbClr val="414042"/>
                </a:solidFill>
                <a:latin typeface="Lato"/>
                <a:ea typeface="Lato"/>
                <a:cs typeface="Lato"/>
                <a:sym typeface="Lato"/>
              </a:rPr>
              <a:t> 10% annual bonus points on birthdays to create high-emotional-value touchpoints.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2247900" y="1790700"/>
            <a:ext cx="762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54B848"/>
                </a:solidFill>
                <a:latin typeface="Lato"/>
                <a:ea typeface="Lato"/>
                <a:cs typeface="Lato"/>
                <a:sym typeface="Lato"/>
              </a:rPr>
              <a:t>●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2247900" y="2384821"/>
            <a:ext cx="762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54B848"/>
                </a:solidFill>
                <a:latin typeface="Lato"/>
                <a:ea typeface="Lato"/>
                <a:cs typeface="Lato"/>
                <a:sym typeface="Lato"/>
              </a:rPr>
              <a:t>●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2247900" y="2978943"/>
            <a:ext cx="762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54B848"/>
                </a:solidFill>
                <a:latin typeface="Lato"/>
                <a:ea typeface="Lato"/>
                <a:cs typeface="Lato"/>
                <a:sym typeface="Lato"/>
              </a:rPr>
              <a:t>●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2247900" y="3573065"/>
            <a:ext cx="7620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54B848"/>
                </a:solidFill>
                <a:latin typeface="Lato"/>
                <a:ea typeface="Lato"/>
                <a:cs typeface="Lato"/>
                <a:sym typeface="Lato"/>
              </a:rPr>
              <a:t>●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904875"/>
            <a:ext cx="11049000" cy="538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4"/>
          <p:cNvSpPr txBox="1"/>
          <p:nvPr/>
        </p:nvSpPr>
        <p:spPr>
          <a:xfrm>
            <a:off x="571500" y="571500"/>
            <a:ext cx="116014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414042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pic>
        <p:nvPicPr>
          <p:cNvPr id="116" name="Google Shape;11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0477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/>
          <p:nvPr/>
        </p:nvSpPr>
        <p:spPr>
          <a:xfrm>
            <a:off x="1666875" y="1095375"/>
            <a:ext cx="995362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https://www.bankrate.com/brp/2025/06/17185200/travel-credit-card.jpg?auto=webp&amp;optimize=high&amp;crop=16:9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1666875" y="1295400"/>
            <a:ext cx="995362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www.bankrate.com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</Words>
  <Application>Microsoft Office PowerPoint</Application>
  <PresentationFormat>Widescreen</PresentationFormat>
  <Paragraphs>20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Lato</vt:lpstr>
      <vt:lpstr>Arial</vt:lpstr>
      <vt:lpstr>Poppins</vt:lpstr>
      <vt:lpstr>Calibri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Larissa</dc:creator>
  <cp:lastModifiedBy>Ryan D'costa (510007086)</cp:lastModifiedBy>
  <cp:revision>1</cp:revision>
  <dcterms:modified xsi:type="dcterms:W3CDTF">2026-05-19T11:01:08Z</dcterms:modified>
</cp:coreProperties>
</file>